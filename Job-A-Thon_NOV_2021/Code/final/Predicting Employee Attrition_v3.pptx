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0" r:id="rId8"/>
    <p:sldId id="261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6807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5924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9047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3171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471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268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656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6267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38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455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38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4B907A-A3E0-453B-91AF-706D03C85F1A}" type="datetimeFigureOut">
              <a:rPr lang="en-IN" smtClean="0"/>
              <a:t>21-11-2021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958798B-029F-44F9-8BCC-5E8239436970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0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1A6A6-8C48-48C3-8C67-91419F6E87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3600" b="1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Predicting Employee Attrition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E1CFE0-85BE-4A5E-B926-FEF672606B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Abhinav </a:t>
            </a:r>
            <a:r>
              <a:rPr lang="en-IN" dirty="0" err="1"/>
              <a:t>kumar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215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0ACB-38C4-4414-BA30-CAE0FC7C2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00D9-7998-4D67-B96B-21963DCCA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Predict whether a current employee will be leaving the organization in the upcoming two quarters(01 Jan 2018 - 01 July 2018) or not.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1470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6EF23-EFC1-4564-A0BC-3B46A6D21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Initial Info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354E-4737-4472-9B40-D8FF51693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15732"/>
            <a:ext cx="9603275" cy="3907990"/>
          </a:xfrm>
        </p:spPr>
        <p:txBody>
          <a:bodyPr>
            <a:normAutofit/>
          </a:bodyPr>
          <a:lstStyle/>
          <a:p>
            <a:r>
              <a:rPr lang="en-IN" dirty="0"/>
              <a:t>Total Month Info – 24 months</a:t>
            </a:r>
          </a:p>
          <a:p>
            <a:r>
              <a:rPr lang="en-IN" dirty="0"/>
              <a:t>Total Employee Information – 2381</a:t>
            </a:r>
          </a:p>
          <a:p>
            <a:r>
              <a:rPr lang="en-IN" dirty="0"/>
              <a:t>Employee Left the company – 1616</a:t>
            </a:r>
          </a:p>
          <a:p>
            <a:r>
              <a:rPr lang="en-IN" dirty="0"/>
              <a:t>Employee Current working – 765</a:t>
            </a:r>
          </a:p>
          <a:p>
            <a:r>
              <a:rPr lang="en-IN" dirty="0"/>
              <a:t>Age is distributed from 21 to 58</a:t>
            </a:r>
          </a:p>
          <a:p>
            <a:r>
              <a:rPr lang="en-IN" dirty="0"/>
              <a:t>Unique City – 29</a:t>
            </a:r>
          </a:p>
          <a:p>
            <a:r>
              <a:rPr lang="en-IN" dirty="0"/>
              <a:t>Education level - </a:t>
            </a:r>
            <a:r>
              <a:rPr lang="en-IN" b="0" i="0" dirty="0">
                <a:solidFill>
                  <a:srgbClr val="000000"/>
                </a:solidFill>
                <a:effectLst/>
                <a:latin typeface="Helvetica Neue"/>
              </a:rPr>
              <a:t>Master, College, Bachelor</a:t>
            </a:r>
          </a:p>
          <a:p>
            <a:pPr algn="r"/>
            <a:r>
              <a:rPr lang="en-IN" dirty="0">
                <a:solidFill>
                  <a:srgbClr val="000000"/>
                </a:solidFill>
                <a:latin typeface="Helvetica Neue"/>
              </a:rPr>
              <a:t>Continue..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6105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26FE5-5F68-478A-BF18-CA12E39D6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0C64F0-C14C-4A12-8B2B-BCA0EDEEAE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44 employee got promotion in last 24 months</a:t>
            </a:r>
          </a:p>
          <a:p>
            <a:r>
              <a:rPr lang="en-IN" dirty="0"/>
              <a:t>Quarterly rating 1,2,3,4</a:t>
            </a:r>
          </a:p>
          <a:p>
            <a:r>
              <a:rPr lang="en-IN" dirty="0"/>
              <a:t>Designation 1,2,3,4,5 </a:t>
            </a:r>
          </a:p>
        </p:txBody>
      </p:sp>
    </p:spTree>
    <p:extLst>
      <p:ext uri="{BB962C8B-B14F-4D97-AF65-F5344CB8AC3E}">
        <p14:creationId xmlns:p14="http://schemas.microsoft.com/office/powerpoint/2010/main" val="3684518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9CD62-1A9E-4074-9924-DEB7283DE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A8FA44-A978-4671-BED1-2576EE62C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IS Total Business Value negative</a:t>
            </a:r>
          </a:p>
          <a:p>
            <a:r>
              <a:rPr lang="en-IN" dirty="0">
                <a:latin typeface="Georgia" panose="02040502050405020303" pitchFamily="18" charset="0"/>
              </a:rPr>
              <a:t>Is Total Business Value zero</a:t>
            </a:r>
          </a:p>
          <a:p>
            <a:r>
              <a:rPr lang="en-IN" dirty="0">
                <a:latin typeface="Georgia" panose="02040502050405020303" pitchFamily="18" charset="0"/>
              </a:rPr>
              <a:t>Increase in Total Business Value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monthly lags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rolling Average</a:t>
            </a:r>
          </a:p>
          <a:p>
            <a:r>
              <a:rPr lang="en-IN" dirty="0">
                <a:latin typeface="Georgia" panose="02040502050405020303" pitchFamily="18" charset="0"/>
              </a:rPr>
              <a:t>Salary Increase</a:t>
            </a:r>
          </a:p>
        </p:txBody>
      </p:sp>
    </p:spTree>
    <p:extLst>
      <p:ext uri="{BB962C8B-B14F-4D97-AF65-F5344CB8AC3E}">
        <p14:creationId xmlns:p14="http://schemas.microsoft.com/office/powerpoint/2010/main" val="1461658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D2C28-6B52-467D-8AF2-A2D8EA1B93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8F268-2A8C-48D4-996D-E82C25A15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Salary / Age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/ Age</a:t>
            </a:r>
          </a:p>
          <a:p>
            <a:r>
              <a:rPr lang="en-IN" dirty="0">
                <a:latin typeface="Georgia" panose="02040502050405020303" pitchFamily="18" charset="0"/>
              </a:rPr>
              <a:t>Average Salary by Age, Gender, City and Education</a:t>
            </a:r>
          </a:p>
          <a:p>
            <a:r>
              <a:rPr lang="en-IN" dirty="0">
                <a:latin typeface="Georgia" panose="02040502050405020303" pitchFamily="18" charset="0"/>
              </a:rPr>
              <a:t>Salary / 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Total Business Value / Working Days</a:t>
            </a:r>
          </a:p>
          <a:p>
            <a:r>
              <a:rPr lang="en-IN" dirty="0">
                <a:latin typeface="Georgia" panose="02040502050405020303" pitchFamily="18" charset="0"/>
              </a:rPr>
              <a:t>Like this there are 98 independent variable</a:t>
            </a:r>
          </a:p>
        </p:txBody>
      </p:sp>
    </p:spTree>
    <p:extLst>
      <p:ext uri="{BB962C8B-B14F-4D97-AF65-F5344CB8AC3E}">
        <p14:creationId xmlns:p14="http://schemas.microsoft.com/office/powerpoint/2010/main" val="2620967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5D106-9E7C-412B-BE0B-AD8E6B40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Approach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34E2A-D4F9-4CBA-9DA8-8C788D3093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Time Series Binary Classification Problem</a:t>
            </a:r>
          </a:p>
          <a:p>
            <a:pPr marL="0" indent="0">
              <a:buNone/>
            </a:pPr>
            <a:endParaRPr lang="en-IN" dirty="0">
              <a:latin typeface="Georgia" panose="02040502050405020303" pitchFamily="18" charset="0"/>
            </a:endParaRPr>
          </a:p>
          <a:p>
            <a:pPr marL="0" indent="0">
              <a:buNone/>
            </a:pPr>
            <a:r>
              <a:rPr lang="en-IN" dirty="0">
                <a:latin typeface="Georgia" panose="02040502050405020303" pitchFamily="18" charset="0"/>
              </a:rPr>
              <a:t>	Data pre-processing</a:t>
            </a:r>
          </a:p>
          <a:p>
            <a:r>
              <a:rPr lang="en-IN" dirty="0">
                <a:latin typeface="Georgia" panose="02040502050405020303" pitchFamily="18" charset="0"/>
              </a:rPr>
              <a:t>Do PCA on the available data of the employee.</a:t>
            </a:r>
          </a:p>
          <a:p>
            <a:r>
              <a:rPr lang="en-IN" dirty="0">
                <a:latin typeface="Georgia" panose="02040502050405020303" pitchFamily="18" charset="0"/>
              </a:rPr>
              <a:t>Such that train data reduced to (2381, 98).</a:t>
            </a:r>
          </a:p>
          <a:p>
            <a:r>
              <a:rPr lang="en-IN" dirty="0">
                <a:latin typeface="Georgia" panose="02040502050405020303" pitchFamily="18" charset="0"/>
              </a:rPr>
              <a:t>A single row for the employee.</a:t>
            </a:r>
          </a:p>
          <a:p>
            <a:r>
              <a:rPr lang="en-IN" dirty="0">
                <a:latin typeface="Georgia" panose="02040502050405020303" pitchFamily="18" charset="0"/>
              </a:rPr>
              <a:t>Target – 1 for left and 0 for working</a:t>
            </a:r>
          </a:p>
        </p:txBody>
      </p:sp>
    </p:spTree>
    <p:extLst>
      <p:ext uri="{BB962C8B-B14F-4D97-AF65-F5344CB8AC3E}">
        <p14:creationId xmlns:p14="http://schemas.microsoft.com/office/powerpoint/2010/main" val="28311368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811110-99D3-4049-9A25-6AC02D414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47EE-FBED-43A7-87CC-38901D165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2002480"/>
            <a:ext cx="9603275" cy="3450613"/>
          </a:xfrm>
        </p:spPr>
        <p:txBody>
          <a:bodyPr/>
          <a:lstStyle/>
          <a:p>
            <a:pPr marL="457200" lvl="1" indent="0">
              <a:buNone/>
            </a:pPr>
            <a:r>
              <a:rPr lang="en-IN" dirty="0">
                <a:latin typeface="Georgia" panose="02040502050405020303" pitchFamily="18" charset="0"/>
              </a:rPr>
              <a:t>	Model Building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Georgia" panose="02040502050405020303" pitchFamily="18" charset="0"/>
              </a:rPr>
              <a:t>Created a Weighted Averaged Classification Models having </a:t>
            </a:r>
            <a:r>
              <a:rPr lang="en-IN" dirty="0" err="1">
                <a:latin typeface="Georgia" panose="02040502050405020303" pitchFamily="18" charset="0"/>
              </a:rPr>
              <a:t>randomforest</a:t>
            </a:r>
            <a:r>
              <a:rPr lang="en-IN" dirty="0">
                <a:latin typeface="Georgia" panose="02040502050405020303" pitchFamily="18" charset="0"/>
              </a:rPr>
              <a:t>, </a:t>
            </a:r>
            <a:r>
              <a:rPr lang="en-IN" dirty="0" err="1">
                <a:latin typeface="Georgia" panose="02040502050405020303" pitchFamily="18" charset="0"/>
              </a:rPr>
              <a:t>XGBoost</a:t>
            </a:r>
            <a:r>
              <a:rPr lang="en-IN" dirty="0">
                <a:latin typeface="Georgia" panose="02040502050405020303" pitchFamily="18" charset="0"/>
              </a:rPr>
              <a:t> and  </a:t>
            </a:r>
            <a:r>
              <a:rPr lang="en-IN" dirty="0" err="1">
                <a:latin typeface="Georgia" panose="02040502050405020303" pitchFamily="18" charset="0"/>
              </a:rPr>
              <a:t>LightGBM</a:t>
            </a:r>
            <a:r>
              <a:rPr lang="en-IN" dirty="0">
                <a:latin typeface="Georgia" panose="02040502050405020303" pitchFamily="18" charset="0"/>
              </a:rPr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latin typeface="Georgia" panose="02040502050405020303" pitchFamily="18" charset="0"/>
              </a:rPr>
              <a:t>Attained good result with f1_sore – 0.90</a:t>
            </a:r>
          </a:p>
          <a:p>
            <a:pPr marL="457200" indent="-457200">
              <a:buFont typeface="+mj-lt"/>
              <a:buAutoNum type="arabicPeriod"/>
            </a:pPr>
            <a:endParaRPr lang="en-IN" dirty="0">
              <a:latin typeface="Georgia" panose="02040502050405020303" pitchFamily="18" charset="0"/>
            </a:endParaRPr>
          </a:p>
          <a:p>
            <a:pPr marL="457200" indent="-457200">
              <a:buFont typeface="+mj-lt"/>
              <a:buAutoNum type="arabicPeriod"/>
            </a:pP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3806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0FA5-4942-496F-9334-AE9039CF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1ED2-B291-4CC0-AB5E-17D9BE28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latin typeface="Georgia" panose="02040502050405020303" pitchFamily="18" charset="0"/>
              </a:rPr>
              <a:t>Creating Jan-2018 data</a:t>
            </a:r>
          </a:p>
          <a:p>
            <a:r>
              <a:rPr lang="en-IN" dirty="0">
                <a:latin typeface="Georgia" panose="02040502050405020303" pitchFamily="18" charset="0"/>
              </a:rPr>
              <a:t>Increased working day – 31 days (of December)</a:t>
            </a:r>
          </a:p>
          <a:p>
            <a:r>
              <a:rPr lang="en-IN" dirty="0">
                <a:latin typeface="Georgia" panose="02040502050405020303" pitchFamily="18" charset="0"/>
              </a:rPr>
              <a:t>Changed Total Business Value to rolling average of last 4 month </a:t>
            </a:r>
            <a:r>
              <a:rPr lang="en-IN" dirty="0" err="1">
                <a:latin typeface="Georgia" panose="02040502050405020303" pitchFamily="18" charset="0"/>
              </a:rPr>
              <a:t>ie</a:t>
            </a:r>
            <a:r>
              <a:rPr lang="en-IN" dirty="0">
                <a:latin typeface="Georgia" panose="02040502050405020303" pitchFamily="18" charset="0"/>
              </a:rPr>
              <a:t>. One quarter</a:t>
            </a:r>
          </a:p>
          <a:p>
            <a:r>
              <a:rPr lang="en-IN" dirty="0">
                <a:latin typeface="Georgia" panose="02040502050405020303" pitchFamily="18" charset="0"/>
              </a:rPr>
              <a:t>Month column – 1</a:t>
            </a:r>
          </a:p>
          <a:p>
            <a:r>
              <a:rPr lang="en-IN" dirty="0">
                <a:latin typeface="Georgia" panose="02040502050405020303" pitchFamily="18" charset="0"/>
              </a:rPr>
              <a:t>Calculated remaining 95 independent variable.</a:t>
            </a:r>
          </a:p>
          <a:p>
            <a:r>
              <a:rPr lang="en-IN" dirty="0">
                <a:latin typeface="Georgia" panose="02040502050405020303" pitchFamily="18" charset="0"/>
              </a:rPr>
              <a:t>Pass through PCA function.</a:t>
            </a:r>
          </a:p>
          <a:p>
            <a:r>
              <a:rPr lang="en-IN" dirty="0">
                <a:latin typeface="Georgia" panose="02040502050405020303" pitchFamily="18" charset="0"/>
              </a:rPr>
              <a:t>And finally predict using Weighted Average Classifier.</a:t>
            </a:r>
          </a:p>
          <a:p>
            <a:endParaRPr lang="en-IN" dirty="0">
              <a:latin typeface="Georgia" panose="020405020504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341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D0FA5-4942-496F-9334-AE9039CF4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Test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01ED2-B291-4CC0-AB5E-17D9BE28B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eorgia" panose="02040502050405020303" pitchFamily="18" charset="0"/>
              </a:rPr>
              <a:t>If prediction is 1 </a:t>
            </a:r>
            <a:r>
              <a:rPr lang="en-IN" dirty="0" err="1">
                <a:latin typeface="Georgia" panose="02040502050405020303" pitchFamily="18" charset="0"/>
              </a:rPr>
              <a:t>ie</a:t>
            </a:r>
            <a:r>
              <a:rPr lang="en-IN" dirty="0">
                <a:latin typeface="Georgia" panose="02040502050405020303" pitchFamily="18" charset="0"/>
              </a:rPr>
              <a:t>. Left the company then separate that from remaining and calculate February data on it.</a:t>
            </a:r>
          </a:p>
          <a:p>
            <a:r>
              <a:rPr lang="en-IN" dirty="0">
                <a:latin typeface="Georgia" panose="02040502050405020303" pitchFamily="18" charset="0"/>
              </a:rPr>
              <a:t>Like this run the Model on data up to June.</a:t>
            </a:r>
          </a:p>
          <a:p>
            <a:r>
              <a:rPr lang="en-IN" dirty="0">
                <a:latin typeface="Georgia" panose="02040502050405020303" pitchFamily="18" charset="0"/>
              </a:rPr>
              <a:t>Final result is converted in csv </a:t>
            </a:r>
            <a:r>
              <a:rPr lang="en-IN">
                <a:latin typeface="Georgia" panose="02040502050405020303" pitchFamily="18" charset="0"/>
              </a:rPr>
              <a:t>and uploaded.</a:t>
            </a:r>
            <a:endParaRPr lang="en-IN" dirty="0">
              <a:latin typeface="Georgia" panose="02040502050405020303" pitchFamily="18" charset="0"/>
            </a:endParaRPr>
          </a:p>
          <a:p>
            <a:pPr marL="0" indent="0">
              <a:buNone/>
            </a:pPr>
            <a:endParaRPr lang="en-IN" dirty="0">
              <a:latin typeface="Georgia" panose="02040502050405020303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8815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6D6C51-7B8F-4660-9DF9-E84D02943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you!!!</a:t>
            </a:r>
          </a:p>
        </p:txBody>
      </p:sp>
    </p:spTree>
    <p:extLst>
      <p:ext uri="{BB962C8B-B14F-4D97-AF65-F5344CB8AC3E}">
        <p14:creationId xmlns:p14="http://schemas.microsoft.com/office/powerpoint/2010/main" val="4147420390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48</TotalTime>
  <Words>337</Words>
  <Application>Microsoft Office PowerPoint</Application>
  <PresentationFormat>Widescreen</PresentationFormat>
  <Paragraphs>57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Georgia</vt:lpstr>
      <vt:lpstr>Gill Sans MT</vt:lpstr>
      <vt:lpstr>Helvetica Neue</vt:lpstr>
      <vt:lpstr>Gallery</vt:lpstr>
      <vt:lpstr>Predicting Employee Attrition</vt:lpstr>
      <vt:lpstr>Objective </vt:lpstr>
      <vt:lpstr>Initial Info </vt:lpstr>
      <vt:lpstr> </vt:lpstr>
      <vt:lpstr>Feature Selection </vt:lpstr>
      <vt:lpstr>Feature Selection</vt:lpstr>
      <vt:lpstr>Approach </vt:lpstr>
      <vt:lpstr> Approach</vt:lpstr>
      <vt:lpstr>Test Data</vt:lpstr>
      <vt:lpstr>Test Data</vt:lpstr>
      <vt:lpstr>Thank you!!!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Employee Attrition</dc:title>
  <dc:creator>Abhinav Kumar</dc:creator>
  <cp:lastModifiedBy>Abhinav Kumar</cp:lastModifiedBy>
  <cp:revision>2</cp:revision>
  <dcterms:created xsi:type="dcterms:W3CDTF">2021-11-21T16:40:22Z</dcterms:created>
  <dcterms:modified xsi:type="dcterms:W3CDTF">2021-11-21T18:07:12Z</dcterms:modified>
</cp:coreProperties>
</file>